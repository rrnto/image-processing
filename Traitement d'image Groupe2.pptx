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7" r:id="rId4"/>
  </p:sldMasterIdLst>
  <p:notesMasterIdLst>
    <p:notesMasterId r:id="rId23"/>
  </p:notesMasterIdLst>
  <p:sldIdLst>
    <p:sldId id="1864" r:id="rId5"/>
    <p:sldId id="1846" r:id="rId6"/>
    <p:sldId id="1845" r:id="rId7"/>
    <p:sldId id="1849" r:id="rId8"/>
    <p:sldId id="1848" r:id="rId9"/>
    <p:sldId id="1870" r:id="rId10"/>
    <p:sldId id="1871" r:id="rId11"/>
    <p:sldId id="1867" r:id="rId12"/>
    <p:sldId id="1872" r:id="rId13"/>
    <p:sldId id="1873" r:id="rId14"/>
    <p:sldId id="1874" r:id="rId15"/>
    <p:sldId id="1868" r:id="rId16"/>
    <p:sldId id="1875" r:id="rId17"/>
    <p:sldId id="1876" r:id="rId18"/>
    <p:sldId id="1869" r:id="rId19"/>
    <p:sldId id="1865" r:id="rId20"/>
    <p:sldId id="1878" r:id="rId21"/>
    <p:sldId id="1858" r:id="rId2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80" userDrawn="1">
          <p15:clr>
            <a:srgbClr val="A4A3A4"/>
          </p15:clr>
        </p15:guide>
        <p15:guide id="3" pos="7200" userDrawn="1">
          <p15:clr>
            <a:srgbClr val="A4A3A4"/>
          </p15:clr>
        </p15:guide>
        <p15:guide id="4" pos="4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4387"/>
    <a:srgbClr val="FF2625"/>
    <a:srgbClr val="007788"/>
    <a:srgbClr val="297C2A"/>
    <a:srgbClr val="F69000"/>
    <a:srgbClr val="01C2D1"/>
    <a:srgbClr val="D6D734"/>
    <a:srgbClr val="005C68"/>
    <a:srgbClr val="3B2E58"/>
    <a:srgbClr val="6B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4561" autoAdjust="0"/>
  </p:normalViewPr>
  <p:slideViewPr>
    <p:cSldViewPr snapToGrid="0">
      <p:cViewPr>
        <p:scale>
          <a:sx n="70" d="100"/>
          <a:sy n="70" d="100"/>
        </p:scale>
        <p:origin x="306" y="108"/>
      </p:cViewPr>
      <p:guideLst>
        <p:guide orient="horz" pos="2160"/>
        <p:guide pos="480"/>
        <p:guide pos="7200"/>
        <p:guide pos="43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4" d="100"/>
        <a:sy n="9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D9F622F8-1824-4338-8C3C-5529D3BDEF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618DDD53-BB38-4118-BC75-9CE27D49C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xmlns="" id="{6C03B6F7-B1AE-4118-ABA2-FFEC9B8F0E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xmlns="" id="{646F5356-BDE8-43C1-9587-85323D02B1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xmlns="" id="{89912C35-11A9-4DA7-8476-F1823F65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xmlns="" id="{7180ED79-CEC3-4FB9-B511-8597B20A0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EB7EE2-04A2-4FB2-9625-C9C73AC4D32F}" type="slidenum">
              <a:rPr lang="en-US" altLang="en-US"/>
              <a:pPr/>
              <a:t>‹N°›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37023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xmlns="" id="{FA4671F7-4D2C-4B1E-AED7-24676BE8B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7842D7-C728-4EBD-982B-B8BE79E4DBBE}" type="slidenum">
              <a:rPr lang="en-US" altLang="en-US"/>
              <a:pPr eaLnBrk="1" hangingPunct="1"/>
              <a:t>1</a:t>
            </a:fld>
            <a:endParaRPr lang="en-US" altLang="en-US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xmlns="" id="{D8E83BD0-7AE4-4323-9047-FC368929C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xmlns="" id="{FDECF5EC-C5EC-4723-8F4F-A75A20018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814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32278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3417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DE803D1-5F8C-F3AD-9E73-2D2D74285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A8B83EE-1028-F187-01F6-333B7B751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87076103-A5A8-A2D2-8E2B-1CFEA6296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1BF2190-A837-264E-14A2-21B90009E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83286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0BA8AB0-3E36-DC86-A62C-9AA0EC184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BF425D7-C519-92F0-46FB-9D69E3E3B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CE396AB-EBE7-FDAA-FC6C-7B8996776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DBC0DD1-073F-4774-51C2-1E3800305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40300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067A281-EAA9-AAFA-001D-F5CCB495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5A8264A-573C-9C83-E7C3-4B8BFDEE6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87CD712-439A-BA48-9E9A-47AED0A19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48904D4-93D9-4459-5602-B23B666C3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88718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023DA98-74A7-1546-1E5E-37862C2C6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3A3C0EF-49B6-0A72-2612-45C060B53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A64D9DD-77A6-8450-42F8-95168BC2C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927AE9F-24E7-DDB2-1F80-07F21C347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9884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B817520-F04D-53A0-E80D-CE641FA90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4DB2218-0D79-697C-7E1F-42C352358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C042A19-4C64-4D84-3323-67FA1584E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15E715D-D79E-D98C-414D-F8189E3B3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72109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38E3799-AA04-EDD3-293F-57F24118B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6FA8A25-5771-AB12-2854-23381DD88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B226BD3-24B4-FCE0-3653-EB275D767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74F2CAC-2CA9-EB60-A4BA-619BF5AC3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49116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E1D8E97-5ED7-C2EC-B2CB-C43BF3585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793436A-DDEB-444B-6D2A-63B295067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063D515-67FC-B8BA-604D-7A7C864AD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04FA695-46B2-F726-737D-D44EAF8A4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37805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CBDEE0-8710-AEE3-0666-C97D1AD7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5763E97-F4AC-5A3C-8F9C-D82A50BCC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48E61B5-9C9E-4ADD-FD17-47BB94F66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00FF910-05DE-068F-AC30-4C8417FAD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26639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E7964CB-E75A-4A03-88D3-6A48EF650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2012" y="2766219"/>
            <a:ext cx="6220101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Insert title here</a:t>
            </a:r>
          </a:p>
        </p:txBody>
      </p:sp>
      <p:pic>
        <p:nvPicPr>
          <p:cNvPr id="6" name="Picture Placeholder 9" descr="Bright, colorful geometric pattern ">
            <a:extLst>
              <a:ext uri="{FF2B5EF4-FFF2-40B4-BE49-F238E27FC236}">
                <a16:creationId xmlns:a16="http://schemas.microsoft.com/office/drawing/2014/main" xmlns="" id="{47BA4775-9232-44C1-8851-04B6753110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4" r="24"/>
          <a:stretch/>
        </p:blipFill>
        <p:spPr>
          <a:xfrm>
            <a:off x="-9236" y="0"/>
            <a:ext cx="47492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67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xmlns="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15" descr="Bright, colorful geometric pattern ">
            <a:extLst>
              <a:ext uri="{FF2B5EF4-FFF2-40B4-BE49-F238E27FC236}">
                <a16:creationId xmlns:a16="http://schemas.microsoft.com/office/drawing/2014/main" xmlns="" id="{D7C393D9-3916-4D61-9B6A-E1B16C079A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" r="3"/>
          <a:stretch/>
        </p:blipFill>
        <p:spPr>
          <a:xfrm>
            <a:off x="7427913" y="0"/>
            <a:ext cx="4764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9" descr="Bright, colorful geometric pattern ">
            <a:extLst>
              <a:ext uri="{FF2B5EF4-FFF2-40B4-BE49-F238E27FC236}">
                <a16:creationId xmlns:a16="http://schemas.microsoft.com/office/drawing/2014/main" xmlns="" id="{69F80BBC-9ED9-4167-818A-EB3FAEE372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xmlns="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24088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xmlns="" id="{780F473D-F2DF-4163-AB6E-F7327F60EC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11582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xmlns="" id="{7DC18506-6205-438F-AA5C-D337F9975FC3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757381" y="2591662"/>
            <a:ext cx="10667999" cy="2833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7" name="Picture Placeholder 20" descr="Bright, colorful geometric pattern ">
            <a:extLst>
              <a:ext uri="{FF2B5EF4-FFF2-40B4-BE49-F238E27FC236}">
                <a16:creationId xmlns:a16="http://schemas.microsoft.com/office/drawing/2014/main" xmlns="" id="{EB4660F5-5357-48E0-B5C6-3DECB6CB8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3" b="193"/>
          <a:stretch/>
        </p:blipFill>
        <p:spPr>
          <a:xfrm>
            <a:off x="0" y="5990252"/>
            <a:ext cx="12192000" cy="86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1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xmlns="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13" descr="Bright, colorful geometric pattern ">
            <a:extLst>
              <a:ext uri="{FF2B5EF4-FFF2-40B4-BE49-F238E27FC236}">
                <a16:creationId xmlns:a16="http://schemas.microsoft.com/office/drawing/2014/main" xmlns="" id="{2DB741D5-0593-4748-A4D3-EF1E436A11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4" r="34"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7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xmlns="" id="{DF03C311-DDF4-44A3-9D51-D5FDC4A8E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927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xmlns="" id="{9FD563C5-3DFB-47DD-8A9E-30D8084590F6}"/>
              </a:ext>
            </a:extLst>
          </p:cNvPr>
          <p:cNvSpPr>
            <a:spLocks noGrp="1"/>
          </p:cNvSpPr>
          <p:nvPr>
            <p:ph type="dgm" sz="quarter" idx="14" hasCustomPrompt="1"/>
          </p:nvPr>
        </p:nvSpPr>
        <p:spPr>
          <a:xfrm>
            <a:off x="762001" y="2369129"/>
            <a:ext cx="10667998" cy="33436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9" name="Picture Placeholder 11" descr="Bright, colorful geometric pattern ">
            <a:extLst>
              <a:ext uri="{FF2B5EF4-FFF2-40B4-BE49-F238E27FC236}">
                <a16:creationId xmlns:a16="http://schemas.microsoft.com/office/drawing/2014/main" xmlns="" id="{1DB66C56-FBAE-47D3-9818-61368D74DA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90" b="390"/>
          <a:stretch>
            <a:fillRect/>
          </a:stretch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26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xmlns="" id="{3F45076F-4240-4B40-8CE4-637DD751A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8498B63D-F60C-4A9D-8D3E-0C7CD748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>
              <a:lnSpc>
                <a:spcPct val="100000"/>
              </a:lnSpc>
              <a:spcBef>
                <a:spcPts val="1000"/>
              </a:spcBef>
              <a:defRPr sz="1800"/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xmlns="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3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xmlns="" id="{89E410BA-B0FE-4F0E-8BE5-D33CC0166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3305541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2" name="Picture Placeholder 19" descr="Bright, colorful geometric pattern ">
            <a:extLst>
              <a:ext uri="{FF2B5EF4-FFF2-40B4-BE49-F238E27FC236}">
                <a16:creationId xmlns:a16="http://schemas.microsoft.com/office/drawing/2014/main" xmlns="" id="{C93F15CF-2105-4C28-85E9-BBA0383326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36" b="436"/>
          <a:stretch/>
        </p:blipFill>
        <p:spPr>
          <a:xfrm>
            <a:off x="0" y="5980922"/>
            <a:ext cx="12192000" cy="87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80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xmlns="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95142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07724906-4405-47F4-B533-7291B003B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xmlns="" id="{1EEF53A4-35A6-4E43-B220-67DA381C5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pic>
        <p:nvPicPr>
          <p:cNvPr id="6" name="Picture Placeholder 17" descr="Bright, colorful geometric pattern ">
            <a:extLst>
              <a:ext uri="{FF2B5EF4-FFF2-40B4-BE49-F238E27FC236}">
                <a16:creationId xmlns:a16="http://schemas.microsoft.com/office/drawing/2014/main" xmlns="" id="{9F278CC9-9968-40F5-B18F-B1D45BE36A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90" b="390"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23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 Oran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xmlns="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13" descr="Bright, colorful geometric pattern ">
            <a:extLst>
              <a:ext uri="{FF2B5EF4-FFF2-40B4-BE49-F238E27FC236}">
                <a16:creationId xmlns:a16="http://schemas.microsoft.com/office/drawing/2014/main" xmlns="" id="{0E92939E-CAD0-4B0D-A39F-10B9B25E14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4" r="34"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7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90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9" r:id="rId2"/>
    <p:sldLayoutId id="2147483700" r:id="rId3"/>
    <p:sldLayoutId id="2147483691" r:id="rId4"/>
    <p:sldLayoutId id="2147483701" r:id="rId5"/>
    <p:sldLayoutId id="2147483706" r:id="rId6"/>
    <p:sldLayoutId id="2147483702" r:id="rId7"/>
    <p:sldLayoutId id="2147483704" r:id="rId8"/>
    <p:sldLayoutId id="2147483690" r:id="rId9"/>
    <p:sldLayoutId id="214748370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7" Type="http://schemas.openxmlformats.org/officeDocument/2006/relationships/image" Target="../media/image3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xmlns="" id="{ED2DB031-9003-4F74-A88F-FE2A2ABAB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10175" y="1037806"/>
            <a:ext cx="7124699" cy="1325563"/>
          </a:xfrm>
        </p:spPr>
        <p:txBody>
          <a:bodyPr anchor="ctr">
            <a:noAutofit/>
          </a:bodyPr>
          <a:lstStyle/>
          <a:p>
            <a:r>
              <a:rPr lang="en-US" altLang="en-US" sz="6000" dirty="0">
                <a:solidFill>
                  <a:schemeClr val="accent1"/>
                </a:solidFill>
              </a:rPr>
              <a:t>FILTRE D’IMAGE</a:t>
            </a:r>
            <a:endParaRPr lang="en-US" altLang="en-US" sz="6000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xmlns="" id="{F68126F8-90DC-4D3E-C86B-888DC6F0BF5D}"/>
              </a:ext>
            </a:extLst>
          </p:cNvPr>
          <p:cNvSpPr txBox="1">
            <a:spLocks/>
          </p:cNvSpPr>
          <p:nvPr/>
        </p:nvSpPr>
        <p:spPr>
          <a:xfrm>
            <a:off x="5210175" y="3841596"/>
            <a:ext cx="6996525" cy="21975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400" dirty="0" smtClean="0"/>
              <a:t>  Par :  </a:t>
            </a:r>
            <a:r>
              <a:rPr lang="en-US" sz="2400" dirty="0"/>
              <a:t>ANDRIAMAMY Rova Isaia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US" sz="2400" dirty="0"/>
              <a:t>	</a:t>
            </a:r>
            <a:r>
              <a:rPr lang="en-US" sz="2400" dirty="0" smtClean="0"/>
              <a:t>ANDRIAMANANA </a:t>
            </a:r>
            <a:r>
              <a:rPr lang="en-US" sz="2400" dirty="0" err="1"/>
              <a:t>Ranto</a:t>
            </a:r>
            <a:r>
              <a:rPr lang="en-US" sz="2400" dirty="0"/>
              <a:t> Ny Aina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US" sz="2400" dirty="0"/>
              <a:t>	</a:t>
            </a:r>
            <a:r>
              <a:rPr lang="en-US" sz="2400" dirty="0" smtClean="0"/>
              <a:t>RANDRIANANTENAINA </a:t>
            </a:r>
            <a:r>
              <a:rPr lang="en-US" sz="2400" dirty="0"/>
              <a:t>Jean Olivier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US" sz="2400" dirty="0"/>
              <a:t>	</a:t>
            </a:r>
          </a:p>
          <a:p>
            <a:pPr fontAlgn="auto">
              <a:spcAft>
                <a:spcPts val="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4326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87BA0B6F-5258-479C-87B7-C806E675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</p:spPr>
        <p:txBody>
          <a:bodyPr/>
          <a:lstStyle/>
          <a:p>
            <a:r>
              <a:rPr lang="en-US" sz="4800" dirty="0"/>
              <a:t>PLAN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3F36812B-2065-4A2B-B59B-8957022687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2600325"/>
            <a:ext cx="6286500" cy="3276600"/>
          </a:xfrm>
        </p:spPr>
        <p:txBody>
          <a:bodyPr/>
          <a:lstStyle/>
          <a:p>
            <a:pPr lvl="1"/>
            <a:r>
              <a:rPr lang="en-US" altLang="en-US" dirty="0"/>
              <a:t>INTRODUCTION</a:t>
            </a:r>
          </a:p>
          <a:p>
            <a:pPr lvl="1"/>
            <a:r>
              <a:rPr lang="en-US" altLang="en-US" dirty="0"/>
              <a:t>TRANSFORMEE DE FOURIER</a:t>
            </a:r>
          </a:p>
          <a:p>
            <a:pPr lvl="1"/>
            <a:r>
              <a:rPr lang="en-US" dirty="0"/>
              <a:t>TRANSFORMATION EN ONDELETTES</a:t>
            </a:r>
          </a:p>
          <a:p>
            <a:pPr lvl="1"/>
            <a:r>
              <a:rPr lang="en-US" dirty="0"/>
              <a:t>FONCTION MATLAB</a:t>
            </a:r>
          </a:p>
          <a:p>
            <a:pPr lvl="1"/>
            <a:r>
              <a:rPr lang="en-US" dirty="0"/>
              <a:t>COMPARAISON</a:t>
            </a:r>
          </a:p>
          <a:p>
            <a:pPr lvl="1"/>
            <a:r>
              <a:rPr lang="en-US" dirty="0"/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461669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D9E38B3-4686-8247-9625-49018D29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51" y="928667"/>
            <a:ext cx="9141397" cy="61555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7DCBA01B-ECA4-4938-872A-B38BEB13AC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1075" y="2095500"/>
            <a:ext cx="10629900" cy="390524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D672AF1B-AC28-35D1-D72F-3DC6BCF9D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474893"/>
            <a:ext cx="9172575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x-none" altLang="x-non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x-none" altLang="x-non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Traitement d’image : améliorer ou extraire des informations visuelles.</a:t>
            </a:r>
            <a:endParaRPr kumimoji="0" lang="fr-FR" altLang="x-non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x-none" altLang="x-non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x-none" altLang="x-non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Filtrage d’image : atténuer le bruit, lisser, ou détecter des contours.</a:t>
            </a:r>
            <a:endParaRPr kumimoji="0" lang="fr-FR" altLang="x-non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x-none" altLang="x-non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x-none" altLang="x-non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Techniques clés : Transformée de Fourier et Transformée en Ondelettes. </a:t>
            </a:r>
          </a:p>
        </p:txBody>
      </p:sp>
    </p:spTree>
    <p:extLst>
      <p:ext uri="{BB962C8B-B14F-4D97-AF65-F5344CB8AC3E}">
        <p14:creationId xmlns:p14="http://schemas.microsoft.com/office/powerpoint/2010/main" val="80354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D1262CD5-AD01-42E3-9173-97C12BB0D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742" y="715961"/>
            <a:ext cx="6477000" cy="1189037"/>
          </a:xfrm>
        </p:spPr>
        <p:txBody>
          <a:bodyPr/>
          <a:lstStyle/>
          <a:p>
            <a:r>
              <a:rPr lang="fr-FR" dirty="0"/>
              <a:t>Transformée de Fourier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F99585A-5E1F-40FA-8E64-BB4F046116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9743" y="1905000"/>
            <a:ext cx="6477000" cy="3276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    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10DDD6D8-787F-F8AA-FA5F-276089598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300" y="1799452"/>
            <a:ext cx="398461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x-none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Principe</a:t>
            </a:r>
            <a:endParaRPr kumimoji="0" lang="fr-FR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x-none" sz="2400" dirty="0">
                <a:solidFill>
                  <a:schemeClr val="bg1"/>
                </a:solidFill>
              </a:rPr>
              <a:t>Application au filtrage</a:t>
            </a:r>
            <a:endParaRPr kumimoji="0" lang="fr-FR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x-none" sz="2400" dirty="0">
                <a:solidFill>
                  <a:schemeClr val="bg1"/>
                </a:solidFill>
              </a:rPr>
              <a:t>Avantages et inconvénient</a:t>
            </a:r>
            <a:r>
              <a:rPr kumimoji="0" lang="x-none" altLang="x-non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78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4" y="249239"/>
            <a:ext cx="10591800" cy="646332"/>
          </a:xfrm>
        </p:spPr>
        <p:txBody>
          <a:bodyPr/>
          <a:lstStyle/>
          <a:p>
            <a:r>
              <a:rPr lang="fr-FR" dirty="0" smtClean="0"/>
              <a:t>P</a:t>
            </a:r>
            <a:r>
              <a:rPr lang="fr-FR" altLang="x-none" dirty="0" smtClean="0"/>
              <a:t>rincipe</a:t>
            </a:r>
            <a: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/>
            </a:r>
            <a:b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72AF25A6-3974-FE71-674A-E388067972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9124" y="895571"/>
            <a:ext cx="10667999" cy="1158237"/>
          </a:xfrm>
        </p:spPr>
        <p:txBody>
          <a:bodyPr/>
          <a:lstStyle/>
          <a:p>
            <a:r>
              <a:rPr lang="fr-FR" dirty="0"/>
              <a:t>• </a:t>
            </a:r>
            <a:r>
              <a:rPr lang="fr-FR" dirty="0" smtClean="0"/>
              <a:t>Transformée </a:t>
            </a:r>
            <a:r>
              <a:rPr lang="fr-FR" dirty="0"/>
              <a:t>de Fourier décompose une image en sinusoïdes de différentes fréquences</a:t>
            </a:r>
            <a:r>
              <a:rPr lang="fr-FR" dirty="0" smtClean="0"/>
              <a:t>.</a:t>
            </a:r>
          </a:p>
          <a:p>
            <a:r>
              <a:rPr lang="fr-FR" dirty="0" smtClean="0"/>
              <a:t>• </a:t>
            </a:r>
            <a:r>
              <a:rPr lang="fr-FR" dirty="0"/>
              <a:t>Elle est utilisée pour convertir une image du </a:t>
            </a:r>
            <a:r>
              <a:rPr lang="fr-FR" b="1" dirty="0"/>
              <a:t>domaine spatial</a:t>
            </a:r>
            <a:r>
              <a:rPr lang="fr-FR" dirty="0"/>
              <a:t> (où chaque pixel représente une valeur de couleur ou d'intensité lumineuse) au </a:t>
            </a:r>
            <a:r>
              <a:rPr lang="fr-FR" b="1" dirty="0"/>
              <a:t>domaine fréquentiel</a:t>
            </a:r>
            <a:endParaRPr lang="x-none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xmlns="" id="{CA26C985-73C1-DE93-5185-6F889B572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79" y="2267211"/>
            <a:ext cx="2753710" cy="2968538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455" y="2053808"/>
            <a:ext cx="3549110" cy="364828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830" y="2029637"/>
            <a:ext cx="3572625" cy="3672458"/>
          </a:xfrm>
          <a:prstGeom prst="rect">
            <a:avLst/>
          </a:prstGeom>
        </p:spPr>
      </p:pic>
      <p:sp>
        <p:nvSpPr>
          <p:cNvPr id="6" name="Flèche droite 5"/>
          <p:cNvSpPr/>
          <p:nvPr/>
        </p:nvSpPr>
        <p:spPr>
          <a:xfrm>
            <a:off x="3769040" y="3540876"/>
            <a:ext cx="1270704" cy="4212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767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B06110A-90F2-F524-9445-0E07F4FE8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1B67B192-92F3-1A48-F5C7-ECD31100D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4" y="249239"/>
            <a:ext cx="10591800" cy="646332"/>
          </a:xfrm>
        </p:spPr>
        <p:txBody>
          <a:bodyPr/>
          <a:lstStyle/>
          <a:p>
            <a:r>
              <a:rPr lang="fr-FR" dirty="0"/>
              <a:t>Application au filtrage</a:t>
            </a:r>
            <a: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/>
            </a:r>
            <a:b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45768AAE-72F5-3970-9F75-4E4DA51581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4422" y="900916"/>
            <a:ext cx="10667999" cy="608432"/>
          </a:xfrm>
        </p:spPr>
        <p:txBody>
          <a:bodyPr/>
          <a:lstStyle/>
          <a:p>
            <a:r>
              <a:rPr lang="fr-FR" dirty="0" smtClean="0"/>
              <a:t>Utilisée </a:t>
            </a:r>
            <a:r>
              <a:rPr lang="fr-FR" dirty="0"/>
              <a:t>pour filtrer </a:t>
            </a:r>
            <a:r>
              <a:rPr lang="fr-FR" dirty="0" smtClean="0"/>
              <a:t>l'image.</a:t>
            </a:r>
          </a:p>
          <a:p>
            <a:r>
              <a:rPr lang="fr-FR" dirty="0"/>
              <a:t>Filtrage fréquentiel, suppression des composantes indésirables (bruit haute ou basse fréquence).</a:t>
            </a:r>
          </a:p>
          <a:p>
            <a:endParaRPr lang="x-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1447174" y="1802871"/>
                <a:ext cx="1671035" cy="4653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fr-FR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174" y="1802871"/>
                <a:ext cx="1671035" cy="46538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/>
              <p:cNvSpPr txBox="1"/>
              <p:nvPr/>
            </p:nvSpPr>
            <p:spPr>
              <a:xfrm>
                <a:off x="5532747" y="1802871"/>
                <a:ext cx="3286349" cy="4731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p>
                        <m:sSupPr>
                          <m:ctrlP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.  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sz="2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747" y="1802871"/>
                <a:ext cx="3286349" cy="4731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ouble flèche horizontale 8"/>
          <p:cNvSpPr/>
          <p:nvPr/>
        </p:nvSpPr>
        <p:spPr>
          <a:xfrm>
            <a:off x="3519427" y="1877758"/>
            <a:ext cx="1612101" cy="31560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5726"/>
            <a:ext cx="3331947" cy="342505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235" y="2384801"/>
            <a:ext cx="3454983" cy="3551529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683" y="2397817"/>
            <a:ext cx="3442320" cy="3538513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978" y="2425726"/>
            <a:ext cx="3388022" cy="348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42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2E3D13C-C084-7F8F-A18D-58A9BD6A7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79899FDC-99B0-B3AB-8838-E0A6C42E2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4" y="249239"/>
            <a:ext cx="10591800" cy="646332"/>
          </a:xfrm>
        </p:spPr>
        <p:txBody>
          <a:bodyPr/>
          <a:lstStyle/>
          <a:p>
            <a:r>
              <a:rPr lang="fr-FR" dirty="0" err="1"/>
              <a:t>Avantanges</a:t>
            </a:r>
            <a:r>
              <a:rPr lang="fr-FR" dirty="0"/>
              <a:t> et Inconvénients</a:t>
            </a:r>
            <a: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/>
            </a:r>
            <a:b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F1C6E255-6FF8-1C65-1508-68FC56A226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sz="3600" dirty="0"/>
              <a:t>• Avantages : Simple à implémenter, efficace pour les images périodiques</a:t>
            </a:r>
            <a:r>
              <a:rPr lang="fr-FR" sz="3600" dirty="0" smtClean="0"/>
              <a:t>.</a:t>
            </a:r>
          </a:p>
          <a:p>
            <a:endParaRPr lang="fr-FR" sz="3600" dirty="0"/>
          </a:p>
          <a:p>
            <a:r>
              <a:rPr lang="fr-FR" sz="3600" dirty="0"/>
              <a:t>• Inconvénients : Moins efficace pour capturer les détails locaux, signaux non stationnaires.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75151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FCFCA63B-B45A-98BF-05BA-6ED33D2A9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42111D23-E007-60C8-BE68-3CD5F3C81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742" y="715961"/>
            <a:ext cx="6477000" cy="1189037"/>
          </a:xfrm>
        </p:spPr>
        <p:txBody>
          <a:bodyPr>
            <a:normAutofit fontScale="90000"/>
          </a:bodyPr>
          <a:lstStyle/>
          <a:p>
            <a:r>
              <a:rPr lang="fr-FR" dirty="0"/>
              <a:t>Transformation en ondelettes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E471DA1-8EBD-AE30-1C7C-B6722DEAE4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9743" y="1905000"/>
            <a:ext cx="6477000" cy="3276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     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xmlns="" id="{BBF5F261-B60F-C535-81FE-064ADBBDE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300" y="1799452"/>
            <a:ext cx="398461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x-none" sz="2400" dirty="0" smtClean="0">
                <a:solidFill>
                  <a:schemeClr val="bg1"/>
                </a:solidFill>
              </a:rPr>
              <a:t>Principe</a:t>
            </a:r>
            <a:endParaRPr kumimoji="0" lang="fr-FR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x-none" sz="2400" dirty="0">
                <a:solidFill>
                  <a:schemeClr val="bg1"/>
                </a:solidFill>
              </a:rPr>
              <a:t>Application au filtrage</a:t>
            </a:r>
            <a:endParaRPr kumimoji="0" lang="fr-FR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x-none" sz="2400" dirty="0">
                <a:solidFill>
                  <a:schemeClr val="bg1"/>
                </a:solidFill>
              </a:rPr>
              <a:t>Avantages et inconvénient</a:t>
            </a:r>
            <a:r>
              <a:rPr kumimoji="0" lang="x-none" altLang="x-non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721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4B13B9C-6E8C-B2E5-A6CC-B89CAA85B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530C06B0-D5CF-1667-D49C-23EC49685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4" y="249239"/>
            <a:ext cx="10591800" cy="646332"/>
          </a:xfrm>
        </p:spPr>
        <p:txBody>
          <a:bodyPr/>
          <a:lstStyle/>
          <a:p>
            <a:r>
              <a:rPr lang="fr-FR" dirty="0" smtClean="0"/>
              <a:t>P</a:t>
            </a:r>
            <a:r>
              <a:rPr lang="fr-FR" altLang="x-none" dirty="0" smtClean="0"/>
              <a:t>rincipe</a:t>
            </a:r>
            <a: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/>
            </a:r>
            <a:b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endParaRPr 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68811" y="1068423"/>
            <a:ext cx="9176230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Représentation multi-résolution des signaux.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Utilisation d'ondelettes de forme localisée pour capter des détails temporels.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Décomposition du signal en approximation et détails. </a:t>
            </a:r>
          </a:p>
        </p:txBody>
      </p:sp>
      <p:sp>
        <p:nvSpPr>
          <p:cNvPr id="6" name="Rectangle 5"/>
          <p:cNvSpPr/>
          <p:nvPr/>
        </p:nvSpPr>
        <p:spPr>
          <a:xfrm>
            <a:off x="354904" y="895570"/>
            <a:ext cx="105176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La </a:t>
            </a:r>
            <a:r>
              <a:rPr lang="fr-FR" b="1" dirty="0">
                <a:solidFill>
                  <a:schemeClr val="bg1"/>
                </a:solidFill>
              </a:rPr>
              <a:t>transformation en ondelettes</a:t>
            </a:r>
            <a:r>
              <a:rPr lang="fr-FR" dirty="0">
                <a:solidFill>
                  <a:schemeClr val="bg1"/>
                </a:solidFill>
              </a:rPr>
              <a:t> est utilisée pour analyser une image à différentes résolutions, permettant une localisation à la fois en fréquence et en espace.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4" y="2809554"/>
            <a:ext cx="2625117" cy="279286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320" y="2809553"/>
            <a:ext cx="2729094" cy="2792861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905" y="2809554"/>
            <a:ext cx="2821098" cy="279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08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D97BD36-96A7-E675-130D-0CB3BB184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84446AA-174C-375D-CCE5-430055CC7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4" y="249239"/>
            <a:ext cx="10591800" cy="646332"/>
          </a:xfrm>
        </p:spPr>
        <p:txBody>
          <a:bodyPr/>
          <a:lstStyle/>
          <a:p>
            <a:r>
              <a:rPr lang="fr-FR" dirty="0"/>
              <a:t>Application au filtrage</a:t>
            </a:r>
            <a: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/>
            </a:r>
            <a:b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endParaRPr 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26767" y="566077"/>
            <a:ext cx="1016548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Décomposition en plusieurs échelles (détaillants des hautes fréquences aux basses).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Suppression du bruit à différentes résolutions.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dirty="0" smtClean="0">
                <a:solidFill>
                  <a:schemeClr val="bg1"/>
                </a:solidFill>
              </a:rPr>
              <a:t>Reconstruction</a:t>
            </a: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056" y="2523108"/>
            <a:ext cx="3357172" cy="313708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CA26C985-73C1-DE93-5185-6F889B572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0182" y="2523108"/>
            <a:ext cx="2364147" cy="313708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36" y="2465569"/>
            <a:ext cx="2606872" cy="3194628"/>
          </a:xfrm>
          <a:prstGeom prst="rect">
            <a:avLst/>
          </a:prstGeom>
        </p:spPr>
      </p:pic>
      <p:sp>
        <p:nvSpPr>
          <p:cNvPr id="7" name="Flèche droite 6"/>
          <p:cNvSpPr/>
          <p:nvPr/>
        </p:nvSpPr>
        <p:spPr>
          <a:xfrm>
            <a:off x="2911608" y="3807912"/>
            <a:ext cx="1322189" cy="400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 droite 7"/>
          <p:cNvSpPr/>
          <p:nvPr/>
        </p:nvSpPr>
        <p:spPr>
          <a:xfrm>
            <a:off x="7889488" y="3807912"/>
            <a:ext cx="1322189" cy="400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2829721" y="3519830"/>
            <a:ext cx="136928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Décomposition</a:t>
            </a:r>
            <a:endParaRPr lang="fr-FR" sz="1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16026" y="3577087"/>
            <a:ext cx="92204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Seuillage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88363" y="4208745"/>
            <a:ext cx="137890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Reconstruction</a:t>
            </a:r>
            <a:endParaRPr lang="fr-FR" sz="1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9603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6B0C99D-4AB6-8B39-C9DC-8ADC0D29A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54C3C3E5-A065-CECF-E635-1CD0CC0B3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4" y="249239"/>
            <a:ext cx="10591800" cy="646332"/>
          </a:xfrm>
        </p:spPr>
        <p:txBody>
          <a:bodyPr/>
          <a:lstStyle/>
          <a:p>
            <a:r>
              <a:rPr lang="fr-FR" dirty="0" err="1"/>
              <a:t>Avantanges</a:t>
            </a:r>
            <a:r>
              <a:rPr lang="fr-FR" dirty="0"/>
              <a:t> et Inconvénients</a:t>
            </a:r>
            <a: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/>
            </a:r>
            <a:b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D9ADC278-0DB6-D95B-BE9C-24A9F2DA60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sz="3600" dirty="0"/>
              <a:t>Avantages : Capacité à capturer les détails locaux et les structures multi-échelles</a:t>
            </a:r>
            <a:r>
              <a:rPr lang="fr-FR" sz="3600" dirty="0" smtClean="0"/>
              <a:t>.</a:t>
            </a:r>
          </a:p>
          <a:p>
            <a:endParaRPr lang="fr-FR" sz="3600" dirty="0"/>
          </a:p>
          <a:p>
            <a:r>
              <a:rPr lang="fr-FR" sz="3600" dirty="0"/>
              <a:t>Inconvénients : Plus complexe à implémenter et à interpréter que la TF.</a:t>
            </a:r>
          </a:p>
          <a:p>
            <a:endParaRPr lang="x-none" sz="3600" dirty="0"/>
          </a:p>
        </p:txBody>
      </p:sp>
    </p:spTree>
    <p:extLst>
      <p:ext uri="{BB962C8B-B14F-4D97-AF65-F5344CB8AC3E}">
        <p14:creationId xmlns:p14="http://schemas.microsoft.com/office/powerpoint/2010/main" val="420559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121DDE08-F039-6744-CC29-F4828967A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00E3C52A-2E54-EAF7-1A03-E21537F69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742" y="715961"/>
            <a:ext cx="6477000" cy="1189037"/>
          </a:xfrm>
        </p:spPr>
        <p:txBody>
          <a:bodyPr>
            <a:normAutofit/>
          </a:bodyPr>
          <a:lstStyle/>
          <a:p>
            <a:r>
              <a:rPr lang="fr-FR" dirty="0"/>
              <a:t>Fonction </a:t>
            </a:r>
            <a:r>
              <a:rPr lang="fr-FR" dirty="0" err="1"/>
              <a:t>matlab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32F51FA-8300-F214-75EC-814D6FD10E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9743" y="1905000"/>
            <a:ext cx="6477000" cy="3276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    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346A0622-4AD9-73D9-4A8E-526C70CBD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300" y="2168784"/>
            <a:ext cx="161133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x-none" sz="2400" dirty="0" err="1">
                <a:solidFill>
                  <a:schemeClr val="bg1"/>
                </a:solidFill>
              </a:rPr>
              <a:t>d</a:t>
            </a: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dencmp</a:t>
            </a:r>
            <a:endParaRPr kumimoji="0" lang="fr-FR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x-none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wdencmp</a:t>
            </a: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81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07E0D3E-22CD-51F5-944D-54EC8D008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13"/>
          <p:cNvSpPr/>
          <p:nvPr/>
        </p:nvSpPr>
        <p:spPr>
          <a:xfrm>
            <a:off x="5327944" y="3842740"/>
            <a:ext cx="700646" cy="437282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à coins arrondis 14"/>
          <p:cNvSpPr/>
          <p:nvPr/>
        </p:nvSpPr>
        <p:spPr>
          <a:xfrm>
            <a:off x="5327944" y="3273679"/>
            <a:ext cx="674888" cy="47598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à coins arrondis 15"/>
          <p:cNvSpPr/>
          <p:nvPr/>
        </p:nvSpPr>
        <p:spPr>
          <a:xfrm>
            <a:off x="5327944" y="4383662"/>
            <a:ext cx="674888" cy="47598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à coins arrondis 11"/>
          <p:cNvSpPr/>
          <p:nvPr/>
        </p:nvSpPr>
        <p:spPr>
          <a:xfrm>
            <a:off x="211176" y="4385376"/>
            <a:ext cx="501043" cy="47598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211177" y="3805645"/>
            <a:ext cx="501043" cy="47598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à coins arrondis 8"/>
          <p:cNvSpPr/>
          <p:nvPr/>
        </p:nvSpPr>
        <p:spPr>
          <a:xfrm>
            <a:off x="211177" y="3243740"/>
            <a:ext cx="501043" cy="47598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C6F6414-FD35-604F-7AAB-ABBBD5B64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4" y="249239"/>
            <a:ext cx="10591800" cy="646332"/>
          </a:xfrm>
        </p:spPr>
        <p:txBody>
          <a:bodyPr/>
          <a:lstStyle/>
          <a:p>
            <a:r>
              <a:rPr lang="fr-FR" dirty="0"/>
              <a:t>Fonction </a:t>
            </a:r>
            <a:r>
              <a:rPr lang="fr-FR" dirty="0" err="1"/>
              <a:t>ddencmp</a:t>
            </a:r>
            <a: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/>
            </a:r>
            <a:b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endParaRPr lang="en-US" dirty="0"/>
          </a:p>
        </p:txBody>
      </p:sp>
      <p:sp>
        <p:nvSpPr>
          <p:cNvPr id="2" name="Rectangle à coins arrondis 1"/>
          <p:cNvSpPr/>
          <p:nvPr/>
        </p:nvSpPr>
        <p:spPr>
          <a:xfrm>
            <a:off x="1565753" y="1089762"/>
            <a:ext cx="7290148" cy="977031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1771391" y="1332055"/>
                <a:ext cx="687887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𝑡h𝑟</m:t>
                          </m:r>
                          <m:r>
                            <a:rPr lang="fr-F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𝑠𝑜𝑟h</m:t>
                          </m:r>
                          <m:r>
                            <a:rPr lang="fr-F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𝑘𝑝</m:t>
                          </m:r>
                        </m:e>
                      </m:d>
                      <m:r>
                        <a:rPr lang="fr-F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𝑑𝑑𝑒𝑛𝑐𝑚𝑝</m:t>
                      </m:r>
                      <m:r>
                        <a:rPr lang="fr-F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fr-F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1, </m:t>
                      </m:r>
                      <m:r>
                        <a:rPr lang="fr-F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fr-F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2, </m:t>
                      </m:r>
                      <m:r>
                        <a:rPr lang="fr-F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391" y="1332055"/>
                <a:ext cx="6878871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/>
              <p:cNvSpPr txBox="1"/>
              <p:nvPr/>
            </p:nvSpPr>
            <p:spPr>
              <a:xfrm>
                <a:off x="198651" y="2553041"/>
                <a:ext cx="539871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fr-FR" b="1" dirty="0" smtClean="0">
                    <a:solidFill>
                      <a:schemeClr val="bg1"/>
                    </a:solidFill>
                  </a:rPr>
                  <a:t>Paramètres</a:t>
                </a: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fr-F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fr-F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fr-FR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FR" dirty="0" smtClean="0">
                    <a:solidFill>
                      <a:schemeClr val="bg1"/>
                    </a:solidFill>
                  </a:rPr>
                  <a:t>  Type d’opération</a:t>
                </a:r>
                <a:r>
                  <a:rPr lang="fr-FR" b="1" dirty="0" smtClean="0">
                    <a:solidFill>
                      <a:schemeClr val="bg1"/>
                    </a:solidFill>
                  </a:rPr>
                  <a:t> </a:t>
                </a:r>
                <a:r>
                  <a:rPr lang="fr-FR" dirty="0" smtClean="0">
                    <a:solidFill>
                      <a:schemeClr val="bg1"/>
                    </a:solidFill>
                  </a:rPr>
                  <a:t> </a:t>
                </a:r>
                <a:r>
                  <a:rPr lang="fr-FR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‘</a:t>
                </a:r>
                <a:r>
                  <a:rPr lang="fr-FR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den’ </a:t>
                </a:r>
                <a:r>
                  <a:rPr lang="fr-FR" dirty="0" smtClean="0">
                    <a:solidFill>
                      <a:schemeClr val="bg1"/>
                    </a:solidFill>
                  </a:rPr>
                  <a:t>ou</a:t>
                </a:r>
                <a:r>
                  <a:rPr lang="fr-FR" dirty="0" smtClean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 </a:t>
                </a:r>
                <a:r>
                  <a:rPr lang="fr-FR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‘</a:t>
                </a:r>
                <a:r>
                  <a:rPr lang="fr-FR" dirty="0" err="1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cmp</a:t>
                </a:r>
                <a:r>
                  <a:rPr lang="fr-FR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’</a:t>
                </a:r>
                <a:endParaRPr lang="fr-FR" b="1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fr-F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fr-F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fr-FR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FR" b="1" dirty="0" smtClean="0">
                    <a:solidFill>
                      <a:schemeClr val="bg1"/>
                    </a:solidFill>
                  </a:rPr>
                  <a:t> </a:t>
                </a:r>
                <a:r>
                  <a:rPr lang="fr-FR" b="1" dirty="0">
                    <a:solidFill>
                      <a:schemeClr val="bg1"/>
                    </a:solidFill>
                  </a:rPr>
                  <a:t> </a:t>
                </a:r>
                <a:r>
                  <a:rPr lang="fr-FR" dirty="0">
                    <a:solidFill>
                      <a:schemeClr val="bg1"/>
                    </a:solidFill>
                  </a:rPr>
                  <a:t>T</a:t>
                </a:r>
                <a:r>
                  <a:rPr lang="fr-FR" dirty="0" smtClean="0">
                    <a:solidFill>
                      <a:schemeClr val="bg1"/>
                    </a:solidFill>
                  </a:rPr>
                  <a:t>ype de décomposition</a:t>
                </a:r>
                <a:r>
                  <a:rPr lang="fr-FR" b="1" dirty="0" smtClean="0">
                    <a:solidFill>
                      <a:schemeClr val="bg1"/>
                    </a:solidFill>
                  </a:rPr>
                  <a:t> </a:t>
                </a:r>
                <a:r>
                  <a:rPr lang="fr-FR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‘</a:t>
                </a:r>
                <a:r>
                  <a:rPr lang="fr-FR" dirty="0" err="1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wv</a:t>
                </a:r>
                <a:r>
                  <a:rPr lang="fr-FR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’ </a:t>
                </a:r>
                <a:r>
                  <a:rPr lang="fr-FR" dirty="0" smtClean="0">
                    <a:solidFill>
                      <a:schemeClr val="bg1"/>
                    </a:solidFill>
                  </a:rPr>
                  <a:t>ou </a:t>
                </a:r>
                <a:r>
                  <a:rPr lang="fr-FR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‘</a:t>
                </a:r>
                <a:r>
                  <a:rPr lang="fr-FR" dirty="0" err="1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wp</a:t>
                </a:r>
                <a:r>
                  <a:rPr lang="fr-FR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’</a:t>
                </a:r>
                <a:endParaRPr lang="fr-FR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lnSpc>
                    <a:spcPct val="200000"/>
                  </a:lnSpc>
                </a:pPr>
                <a:r>
                  <a:rPr lang="fr-FR" b="0" dirty="0" smtClean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fr-FR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FR" b="1" dirty="0" smtClean="0">
                    <a:solidFill>
                      <a:schemeClr val="bg1"/>
                    </a:solidFill>
                  </a:rPr>
                  <a:t> </a:t>
                </a:r>
                <a:r>
                  <a:rPr lang="fr-FR" b="1" dirty="0">
                    <a:solidFill>
                      <a:schemeClr val="bg1"/>
                    </a:solidFill>
                  </a:rPr>
                  <a:t> </a:t>
                </a:r>
                <a:r>
                  <a:rPr lang="fr-FR" b="1" dirty="0" smtClean="0">
                    <a:solidFill>
                      <a:schemeClr val="bg1"/>
                    </a:solidFill>
                  </a:rPr>
                  <a:t>  </a:t>
                </a:r>
                <a:r>
                  <a:rPr lang="fr-FR" dirty="0" smtClean="0">
                    <a:solidFill>
                      <a:schemeClr val="bg1"/>
                    </a:solidFill>
                  </a:rPr>
                  <a:t>Donnée d’entrée</a:t>
                </a:r>
                <a:endParaRPr lang="fr-FR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51" y="2553041"/>
                <a:ext cx="5398719" cy="2308324"/>
              </a:xfrm>
              <a:prstGeom prst="rect">
                <a:avLst/>
              </a:prstGeom>
              <a:blipFill rotWithShape="0">
                <a:blip r:embed="rId4"/>
                <a:stretch>
                  <a:fillRect l="-10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/>
              <p:cNvSpPr txBox="1"/>
              <p:nvPr/>
            </p:nvSpPr>
            <p:spPr>
              <a:xfrm>
                <a:off x="5327943" y="2565567"/>
                <a:ext cx="6644637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fr-FR" b="1" dirty="0" smtClean="0">
                    <a:solidFill>
                      <a:schemeClr val="bg1"/>
                    </a:solidFill>
                  </a:rPr>
                  <a:t>Sorties</a:t>
                </a: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fr-F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𝑡h𝑟</m:t>
                    </m:r>
                    <m:r>
                      <a:rPr lang="fr-FR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FR" dirty="0" smtClean="0">
                    <a:solidFill>
                      <a:schemeClr val="bg1"/>
                    </a:solidFill>
                  </a:rPr>
                  <a:t>     </a:t>
                </a:r>
                <a:r>
                  <a:rPr lang="fr-FR" dirty="0">
                    <a:solidFill>
                      <a:schemeClr val="bg1"/>
                    </a:solidFill>
                  </a:rPr>
                  <a:t>Seuil calculé</a:t>
                </a:r>
                <a:endParaRPr lang="fr-FR" b="1" dirty="0" smtClean="0">
                  <a:solidFill>
                    <a:schemeClr val="bg1"/>
                  </a:solidFill>
                </a:endParaRP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fr-F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𝑠𝑜𝑟h</m:t>
                    </m:r>
                    <m:r>
                      <a:rPr lang="fr-FR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FR" b="1" dirty="0" smtClean="0">
                    <a:solidFill>
                      <a:schemeClr val="bg1"/>
                    </a:solidFill>
                  </a:rPr>
                  <a:t>  </a:t>
                </a:r>
                <a:r>
                  <a:rPr lang="fr-FR" dirty="0" smtClean="0">
                    <a:solidFill>
                      <a:schemeClr val="bg1"/>
                    </a:solidFill>
                  </a:rPr>
                  <a:t>Type de seuillage</a:t>
                </a:r>
                <a:r>
                  <a:rPr lang="fr-FR" dirty="0" smtClean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fr-FR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‘s’ </a:t>
                </a:r>
                <a:r>
                  <a:rPr lang="fr-FR" dirty="0" smtClean="0">
                    <a:solidFill>
                      <a:schemeClr val="bg1"/>
                    </a:solidFill>
                  </a:rPr>
                  <a:t>ou </a:t>
                </a:r>
                <a:r>
                  <a:rPr lang="fr-FR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‘h’</a:t>
                </a:r>
                <a:endParaRPr lang="fr-FR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𝑘𝑝</m:t>
                    </m:r>
                    <m:r>
                      <a:rPr lang="fr-F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FR" b="1" dirty="0" smtClean="0">
                    <a:solidFill>
                      <a:schemeClr val="bg1"/>
                    </a:solidFill>
                  </a:rPr>
                  <a:t>   </a:t>
                </a:r>
                <a:r>
                  <a:rPr lang="fr-FR" dirty="0" smtClean="0">
                    <a:solidFill>
                      <a:schemeClr val="bg1"/>
                    </a:solidFill>
                  </a:rPr>
                  <a:t>Conserver </a:t>
                </a:r>
                <a:r>
                  <a:rPr lang="fr-FR" dirty="0">
                    <a:solidFill>
                      <a:schemeClr val="bg1"/>
                    </a:solidFill>
                  </a:rPr>
                  <a:t>les coefficients d’approximation (1) ou non (0</a:t>
                </a:r>
                <a:r>
                  <a:rPr lang="fr-FR" dirty="0" smtClean="0">
                    <a:solidFill>
                      <a:schemeClr val="bg1"/>
                    </a:solidFill>
                  </a:rPr>
                  <a:t>)</a:t>
                </a:r>
                <a:endParaRPr lang="fr-FR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943" y="2565567"/>
                <a:ext cx="6644637" cy="2308324"/>
              </a:xfrm>
              <a:prstGeom prst="rect">
                <a:avLst/>
              </a:prstGeom>
              <a:blipFill rotWithShape="0">
                <a:blip r:embed="rId5"/>
                <a:stretch>
                  <a:fillRect l="-73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0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2" grpId="0" animBg="1"/>
      <p:bldP spid="11" grpId="0" animBg="1"/>
      <p:bldP spid="9" grpId="0" animBg="1"/>
      <p:bldP spid="8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43F0C0E-5444-FB9E-88B9-9A1450B07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13"/>
          <p:cNvSpPr/>
          <p:nvPr/>
        </p:nvSpPr>
        <p:spPr>
          <a:xfrm>
            <a:off x="632754" y="941344"/>
            <a:ext cx="10654980" cy="977031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à coins arrondis 12"/>
          <p:cNvSpPr/>
          <p:nvPr/>
        </p:nvSpPr>
        <p:spPr>
          <a:xfrm>
            <a:off x="205765" y="4405296"/>
            <a:ext cx="964128" cy="47598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175742" y="3847805"/>
            <a:ext cx="964128" cy="47598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à coins arrondis 11"/>
          <p:cNvSpPr/>
          <p:nvPr/>
        </p:nvSpPr>
        <p:spPr>
          <a:xfrm>
            <a:off x="175742" y="3275472"/>
            <a:ext cx="964128" cy="47598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DAAA7F52-9419-462B-C8E9-81DD97E88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4" y="249239"/>
            <a:ext cx="10591800" cy="646332"/>
          </a:xfrm>
        </p:spPr>
        <p:txBody>
          <a:bodyPr/>
          <a:lstStyle/>
          <a:p>
            <a:r>
              <a:rPr lang="fr-FR" dirty="0"/>
              <a:t>Fonction </a:t>
            </a:r>
            <a:r>
              <a:rPr lang="fr-FR" dirty="0" err="1"/>
              <a:t>wdencmp</a:t>
            </a:r>
            <a: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/>
            </a:r>
            <a:b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19124" y="993116"/>
                <a:ext cx="10799944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𝑥𝑑</m:t>
                      </m:r>
                      <m:r>
                        <a:rPr lang="fr-F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F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𝑑𝑒𝑛𝑐𝑚𝑝</m:t>
                      </m:r>
                      <m:r>
                        <a:rPr lang="fr-F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𝑡𝑦𝑝𝑒</m:t>
                      </m:r>
                      <m:r>
                        <a:rPr lang="fr-F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𝑤𝑛𝑎𝑚𝑒</m:t>
                      </m:r>
                      <m:r>
                        <a:rPr lang="fr-F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𝑡h𝑟</m:t>
                      </m:r>
                      <m:r>
                        <a:rPr lang="fr-FR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𝑠𝑜𝑟h</m:t>
                      </m:r>
                      <m:r>
                        <a:rPr lang="fr-FR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𝑘𝑝</m:t>
                      </m:r>
                      <m:r>
                        <a:rPr lang="fr-FR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24" y="993116"/>
                <a:ext cx="10799944" cy="70788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/>
              <p:cNvSpPr txBox="1"/>
              <p:nvPr/>
            </p:nvSpPr>
            <p:spPr>
              <a:xfrm>
                <a:off x="205765" y="2590619"/>
                <a:ext cx="8168735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fr-FR" b="1" dirty="0" smtClean="0">
                    <a:solidFill>
                      <a:schemeClr val="bg1"/>
                    </a:solidFill>
                  </a:rPr>
                  <a:t>Paramètres</a:t>
                </a: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F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𝑇𝑦𝑝𝑒</m:t>
                    </m:r>
                    <m:r>
                      <a:rPr lang="fr-FR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FR" dirty="0" smtClean="0">
                    <a:solidFill>
                      <a:schemeClr val="bg1"/>
                    </a:solidFill>
                  </a:rPr>
                  <a:t>     Type </a:t>
                </a:r>
                <a:r>
                  <a:rPr lang="fr-FR" dirty="0">
                    <a:solidFill>
                      <a:schemeClr val="bg1"/>
                    </a:solidFill>
                  </a:rPr>
                  <a:t>de seuil à appliquer</a:t>
                </a:r>
                <a:r>
                  <a:rPr lang="fr-FR" dirty="0" smtClean="0">
                    <a:solidFill>
                      <a:schemeClr val="bg1"/>
                    </a:solidFill>
                  </a:rPr>
                  <a:t> </a:t>
                </a:r>
                <a:r>
                  <a:rPr lang="fr-FR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‘</a:t>
                </a:r>
                <a:r>
                  <a:rPr lang="fr-FR" dirty="0" err="1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gbl</a:t>
                </a:r>
                <a:r>
                  <a:rPr lang="fr-FR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’ </a:t>
                </a:r>
                <a:r>
                  <a:rPr lang="fr-FR" dirty="0" smtClean="0">
                    <a:solidFill>
                      <a:schemeClr val="bg1"/>
                    </a:solidFill>
                  </a:rPr>
                  <a:t>ou</a:t>
                </a:r>
                <a:r>
                  <a:rPr lang="fr-FR" dirty="0" smtClean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 </a:t>
                </a:r>
                <a:r>
                  <a:rPr lang="fr-FR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‘</a:t>
                </a:r>
                <a:r>
                  <a:rPr lang="fr-FR" dirty="0" err="1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lvd</a:t>
                </a:r>
                <a:r>
                  <a:rPr lang="fr-FR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’</a:t>
                </a:r>
                <a:endParaRPr lang="fr-FR" b="1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fr-FR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name</m:t>
                    </m:r>
                    <m:r>
                      <a:rPr lang="fr-FR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FR" b="1" dirty="0" smtClean="0">
                    <a:solidFill>
                      <a:schemeClr val="bg1"/>
                    </a:solidFill>
                  </a:rPr>
                  <a:t>  </a:t>
                </a:r>
                <a:r>
                  <a:rPr lang="fr-FR" dirty="0" smtClean="0">
                    <a:solidFill>
                      <a:schemeClr val="bg1"/>
                    </a:solidFill>
                  </a:rPr>
                  <a:t>Nom </a:t>
                </a:r>
                <a:r>
                  <a:rPr lang="fr-FR" dirty="0">
                    <a:solidFill>
                      <a:schemeClr val="bg1"/>
                    </a:solidFill>
                  </a:rPr>
                  <a:t>de l’ondelette </a:t>
                </a:r>
                <a:r>
                  <a:rPr lang="fr-FR" dirty="0" smtClean="0">
                    <a:solidFill>
                      <a:schemeClr val="bg1"/>
                    </a:solidFill>
                  </a:rPr>
                  <a:t>utilisée</a:t>
                </a:r>
              </a:p>
              <a:p>
                <a:pPr>
                  <a:lnSpc>
                    <a:spcPct val="200000"/>
                  </a:lnSpc>
                </a:pPr>
                <a:r>
                  <a:rPr lang="fr-FR" b="0" dirty="0" smtClean="0">
                    <a:solidFill>
                      <a:schemeClr val="bg1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fr-FR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FR" b="1" dirty="0" smtClean="0">
                    <a:solidFill>
                      <a:schemeClr val="bg1"/>
                    </a:solidFill>
                  </a:rPr>
                  <a:t>      </a:t>
                </a:r>
                <a:r>
                  <a:rPr lang="fr-FR" dirty="0">
                    <a:solidFill>
                      <a:schemeClr val="bg1"/>
                    </a:solidFill>
                  </a:rPr>
                  <a:t>Niveau de décomposition</a:t>
                </a:r>
              </a:p>
            </p:txBody>
          </p:sp>
        </mc:Choice>
        <mc:Fallback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65" y="2590619"/>
                <a:ext cx="8168735" cy="2308324"/>
              </a:xfrm>
              <a:prstGeom prst="rect">
                <a:avLst/>
              </a:prstGeom>
              <a:blipFill rotWithShape="0">
                <a:blip r:embed="rId4"/>
                <a:stretch>
                  <a:fillRect l="-67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ZoneTexte 15"/>
              <p:cNvSpPr txBox="1"/>
              <p:nvPr/>
            </p:nvSpPr>
            <p:spPr>
              <a:xfrm>
                <a:off x="6701137" y="2101080"/>
                <a:ext cx="4717931" cy="38318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fr-FR" b="1" dirty="0" smtClean="0">
                    <a:solidFill>
                      <a:schemeClr val="bg1"/>
                    </a:solidFill>
                  </a:rPr>
                  <a:t>Noms des ondelettes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fr-FR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𝑎𝑎𝑟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fr-FR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   </a:t>
                </a:r>
                <a:endParaRPr lang="fr-FR" b="1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𝑑𝑏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1′</m:t>
                    </m:r>
                  </m:oMath>
                </a14:m>
                <a:r>
                  <a:rPr lang="fr-FR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fr-FR" dirty="0" smtClean="0">
                    <a:solidFill>
                      <a:schemeClr val="bg1"/>
                    </a:solidFill>
                  </a:rPr>
                  <a:t>à</a:t>
                </a:r>
                <a:r>
                  <a:rPr lang="fr-FR" b="1" dirty="0" smtClean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fr-FR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𝑑𝑏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fr-FR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fr-FR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fr-FR" dirty="0">
                    <a:solidFill>
                      <a:srgbClr val="111111"/>
                    </a:solidFill>
                    <a:latin typeface="-apple-system"/>
                  </a:rPr>
                  <a:t>(</a:t>
                </a:r>
                <a:r>
                  <a:rPr lang="fr-FR" dirty="0" err="1">
                    <a:solidFill>
                      <a:srgbClr val="111111"/>
                    </a:solidFill>
                    <a:latin typeface="-apple-system"/>
                  </a:rPr>
                  <a:t>Daubechies</a:t>
                </a:r>
                <a:r>
                  <a:rPr lang="fr-FR" dirty="0" smtClean="0">
                    <a:solidFill>
                      <a:srgbClr val="111111"/>
                    </a:solidFill>
                    <a:latin typeface="-apple-system"/>
                  </a:rPr>
                  <a:t>)</a:t>
                </a:r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𝑠𝑦𝑚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2′</m:t>
                    </m:r>
                  </m:oMath>
                </a14:m>
                <a:r>
                  <a:rPr lang="fr-FR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fr-FR" dirty="0">
                    <a:solidFill>
                      <a:schemeClr val="bg1"/>
                    </a:solidFill>
                  </a:rPr>
                  <a:t>à</a:t>
                </a:r>
                <a:r>
                  <a:rPr lang="fr-FR" b="1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b="1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𝑠𝑦𝑚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45′</m:t>
                    </m:r>
                  </m:oMath>
                </a14:m>
                <a:r>
                  <a:rPr lang="fr-FR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fr-FR" dirty="0">
                    <a:solidFill>
                      <a:srgbClr val="111111"/>
                    </a:solidFill>
                    <a:latin typeface="-apple-system"/>
                  </a:rPr>
                  <a:t>(Symlets)</a:t>
                </a:r>
                <a:endParaRPr lang="fr-FR" b="1" dirty="0" smtClean="0">
                  <a:solidFill>
                    <a:schemeClr val="bg1"/>
                  </a:solidFill>
                </a:endParaRPr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𝑐𝑜𝑖𝑓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1′</m:t>
                    </m:r>
                  </m:oMath>
                </a14:m>
                <a:r>
                  <a:rPr lang="fr-FR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fr-FR" dirty="0">
                    <a:solidFill>
                      <a:schemeClr val="bg1"/>
                    </a:solidFill>
                  </a:rPr>
                  <a:t>à</a:t>
                </a:r>
                <a:r>
                  <a:rPr lang="fr-FR" b="1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𝑐𝑜𝑖𝑓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5′</m:t>
                    </m:r>
                  </m:oMath>
                </a14:m>
                <a:r>
                  <a:rPr lang="fr-FR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fr-FR" dirty="0">
                    <a:solidFill>
                      <a:srgbClr val="111111"/>
                    </a:solidFill>
                    <a:latin typeface="-apple-system"/>
                  </a:rPr>
                  <a:t>(Coiflets)</a:t>
                </a:r>
                <a:endParaRPr lang="fr-FR" b="1" dirty="0" smtClean="0">
                  <a:solidFill>
                    <a:schemeClr val="bg1"/>
                  </a:solidFill>
                </a:endParaRPr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𝑏𝑖𝑜𝑟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1.1′</m:t>
                    </m:r>
                  </m:oMath>
                </a14:m>
                <a:r>
                  <a:rPr lang="fr-FR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fr-FR" dirty="0">
                    <a:solidFill>
                      <a:schemeClr val="bg1"/>
                    </a:solidFill>
                  </a:rPr>
                  <a:t>à</a:t>
                </a:r>
                <a:r>
                  <a:rPr lang="fr-FR" b="1" dirty="0" smtClean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fr-FR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𝑏𝑖𝑜𝑟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fr-FR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fr-FR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fr-FR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-apple-system"/>
                  </a:rPr>
                  <a:t> </a:t>
                </a:r>
                <a:r>
                  <a:rPr lang="fr-FR" dirty="0" smtClean="0">
                    <a:solidFill>
                      <a:srgbClr val="111111"/>
                    </a:solidFill>
                    <a:latin typeface="-apple-system"/>
                  </a:rPr>
                  <a:t>(</a:t>
                </a:r>
                <a:r>
                  <a:rPr lang="fr-FR" dirty="0">
                    <a:solidFill>
                      <a:srgbClr val="111111"/>
                    </a:solidFill>
                    <a:latin typeface="-apple-system"/>
                  </a:rPr>
                  <a:t>Biorthogonal)</a:t>
                </a:r>
                <a:endParaRPr lang="fr-FR" b="1" dirty="0" smtClean="0">
                  <a:solidFill>
                    <a:schemeClr val="bg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𝑟𝑏𝑖𝑜</m:t>
                    </m:r>
                    <m:r>
                      <a:rPr lang="fr-FR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1.1′ </m:t>
                    </m:r>
                  </m:oMath>
                </a14:m>
                <a:r>
                  <a:rPr lang="fr-FR" dirty="0" smtClean="0">
                    <a:solidFill>
                      <a:schemeClr val="bg1"/>
                    </a:solidFill>
                  </a:rPr>
                  <a:t>à</a:t>
                </a:r>
                <a:r>
                  <a:rPr lang="fr-FR" b="1" dirty="0" smtClean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FR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𝑏𝑖𝑜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fr-FR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fr-FR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fr-FR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-apple-system"/>
                  </a:rPr>
                  <a:t> </a:t>
                </a:r>
                <a:r>
                  <a:rPr lang="fr-FR" dirty="0">
                    <a:solidFill>
                      <a:srgbClr val="111111"/>
                    </a:solidFill>
                    <a:latin typeface="-apple-system"/>
                  </a:rPr>
                  <a:t>(Reverse Biorthogonal)</a:t>
                </a:r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𝑚𝑒𝑦𝑟</m:t>
                    </m:r>
                    <m:r>
                      <a:rPr lang="fr-FR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fr-FR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fr-FR" dirty="0" smtClean="0">
                    <a:solidFill>
                      <a:srgbClr val="111111"/>
                    </a:solidFill>
                    <a:latin typeface="-apple-system"/>
                  </a:rPr>
                  <a:t>(</a:t>
                </a:r>
                <a:r>
                  <a:rPr lang="fr-FR" dirty="0">
                    <a:solidFill>
                      <a:srgbClr val="111111"/>
                    </a:solidFill>
                    <a:latin typeface="-apple-system"/>
                  </a:rPr>
                  <a:t>Meyer</a:t>
                </a:r>
                <a:r>
                  <a:rPr lang="fr-FR" dirty="0" smtClean="0">
                    <a:solidFill>
                      <a:srgbClr val="111111"/>
                    </a:solidFill>
                    <a:latin typeface="-apple-system"/>
                  </a:rPr>
                  <a:t>)</a:t>
                </a:r>
                <a:endParaRPr lang="fr-FR" b="1" dirty="0">
                  <a:solidFill>
                    <a:schemeClr val="bg1"/>
                  </a:solidFill>
                </a:endParaRPr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fr-FR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fr-F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𝑚𝑒𝑦</m:t>
                    </m:r>
                    <m:r>
                      <a:rPr lang="fr-FR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′</m:t>
                    </m:r>
                  </m:oMath>
                </a14:m>
                <a:r>
                  <a:rPr lang="fr-FR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fr-FR" dirty="0" smtClean="0">
                    <a:solidFill>
                      <a:srgbClr val="111111"/>
                    </a:solidFill>
                    <a:latin typeface="-apple-system"/>
                  </a:rPr>
                  <a:t>(</a:t>
                </a:r>
                <a:r>
                  <a:rPr lang="fr-FR" dirty="0">
                    <a:solidFill>
                      <a:srgbClr val="111111"/>
                    </a:solidFill>
                    <a:latin typeface="-apple-system"/>
                  </a:rPr>
                  <a:t>Discrete Meyer</a:t>
                </a:r>
                <a:r>
                  <a:rPr lang="fr-FR" dirty="0" smtClean="0">
                    <a:solidFill>
                      <a:srgbClr val="111111"/>
                    </a:solidFill>
                    <a:latin typeface="-apple-system"/>
                  </a:rPr>
                  <a:t>)</a:t>
                </a:r>
                <a:endParaRPr lang="fr-FR" dirty="0">
                  <a:solidFill>
                    <a:srgbClr val="111111"/>
                  </a:solidFill>
                  <a:latin typeface="-apple-system"/>
                </a:endParaRPr>
              </a:p>
            </p:txBody>
          </p:sp>
        </mc:Choice>
        <mc:Fallback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1137" y="2101080"/>
                <a:ext cx="4717931" cy="3831818"/>
              </a:xfrm>
              <a:prstGeom prst="rect">
                <a:avLst/>
              </a:prstGeom>
              <a:blipFill rotWithShape="0">
                <a:blip r:embed="rId5"/>
                <a:stretch>
                  <a:fillRect l="-1034" b="-4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715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7B3ACC96-DC9F-1C04-181C-A461E9DD1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7734F4BB-C0DF-5B8C-459B-8FE3B75AD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742" y="715961"/>
            <a:ext cx="6477000" cy="1189037"/>
          </a:xfrm>
        </p:spPr>
        <p:txBody>
          <a:bodyPr>
            <a:normAutofit/>
          </a:bodyPr>
          <a:lstStyle/>
          <a:p>
            <a:r>
              <a:rPr lang="fr-FR" dirty="0"/>
              <a:t>Comparaison sur </a:t>
            </a:r>
            <a:br>
              <a:rPr lang="fr-FR" dirty="0"/>
            </a:br>
            <a:r>
              <a:rPr lang="fr-FR" dirty="0"/>
              <a:t>Matlab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8127A55-8665-AE9C-E435-23F904D2D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9743" y="1905000"/>
            <a:ext cx="6477000" cy="3276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    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6B3FB01E-4DDB-7434-B898-22E5A8F4D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300" y="2168784"/>
            <a:ext cx="166103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x-none" sz="2400" dirty="0">
                <a:solidFill>
                  <a:schemeClr val="bg1"/>
                </a:solidFill>
              </a:rPr>
              <a:t>Code </a:t>
            </a:r>
            <a:endParaRPr kumimoji="0" lang="fr-FR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x-non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Résultats </a:t>
            </a: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6583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à coins arrondis 7"/>
          <p:cNvSpPr/>
          <p:nvPr/>
        </p:nvSpPr>
        <p:spPr>
          <a:xfrm>
            <a:off x="5281684" y="594519"/>
            <a:ext cx="6631529" cy="6106532"/>
          </a:xfrm>
          <a:prstGeom prst="roundRect">
            <a:avLst>
              <a:gd name="adj" fmla="val 5270"/>
            </a:avLst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à coins arrondis 5"/>
          <p:cNvSpPr/>
          <p:nvPr/>
        </p:nvSpPr>
        <p:spPr>
          <a:xfrm>
            <a:off x="450376" y="657355"/>
            <a:ext cx="3916907" cy="5893570"/>
          </a:xfrm>
          <a:prstGeom prst="roundRect">
            <a:avLst>
              <a:gd name="adj" fmla="val 5270"/>
            </a:avLst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9202AD8E-4C7C-4A1B-89B1-9A0997F4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5" y="0"/>
            <a:ext cx="6477000" cy="1189038"/>
          </a:xfrm>
        </p:spPr>
        <p:txBody>
          <a:bodyPr/>
          <a:lstStyle/>
          <a:p>
            <a:r>
              <a:rPr lang="en-US" dirty="0" smtClean="0"/>
              <a:t>Code </a:t>
            </a:r>
            <a:r>
              <a:rPr lang="en-US" dirty="0" err="1" smtClean="0"/>
              <a:t>Matlab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38175" y="769304"/>
            <a:ext cx="39533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% Charger l'image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a =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imread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'moon.jpg'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% Ajouter du bruit gaussien</a:t>
            </a:r>
          </a:p>
          <a:p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noiseLevel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0.01; 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noise =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noiseLevel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*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randn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(size(a)); </a:t>
            </a:r>
          </a:p>
          <a:p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img_noisy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im2double(a) + noise; </a:t>
            </a:r>
          </a:p>
          <a:p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img_noisy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min(max(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img_noisy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0), 1); </a:t>
            </a:r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%Normalisé</a:t>
            </a:r>
          </a:p>
          <a:p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% Afficher l'image bruitée</a:t>
            </a:r>
          </a:p>
          <a:p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figure;imshow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img_noisy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[]);</a:t>
            </a:r>
          </a:p>
          <a:p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title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'Image bruitée'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% Créer un filtre gaussien</a:t>
            </a:r>
          </a:p>
          <a:p>
            <a:r>
              <a:rPr lang="pt-B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H = fspecial(</a:t>
            </a:r>
            <a:r>
              <a:rPr lang="pt-BR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'gaussian'</a:t>
            </a:r>
            <a:r>
              <a:rPr lang="pt-B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[9 9], 2); 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% Spectre de l'image bruitée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ma = abs(fft2(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img_noisy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% Spectre du filtre gaussien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nblig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nbcol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] = size(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img_noisy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mH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abs(fft2(H,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nblig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nbcol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% Reconstruction</a:t>
            </a:r>
          </a:p>
          <a:p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maf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ma .*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mH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phase = angle(fft2(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img_noisy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z =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maf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.*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exp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(1i * phase);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z2 = ifft2(z);</a:t>
            </a:r>
          </a:p>
          <a:p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img_filtered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real(z2);</a:t>
            </a:r>
          </a:p>
        </p:txBody>
      </p:sp>
      <p:sp>
        <p:nvSpPr>
          <p:cNvPr id="5" name="Rectangle 4"/>
          <p:cNvSpPr/>
          <p:nvPr/>
        </p:nvSpPr>
        <p:spPr>
          <a:xfrm>
            <a:off x="5505876" y="657355"/>
            <a:ext cx="6407337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% Affichage de l'image filtrée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figure;</a:t>
            </a:r>
          </a:p>
          <a:p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img_filtered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[]);</a:t>
            </a:r>
          </a:p>
          <a:p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title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'Image filtrée avec un filtre gaussien'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% Filtrage par ondelettes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thr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sorh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kp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] =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ddencmp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'den'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fr-FR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fr-FR" sz="1200" dirty="0" err="1">
                <a:solidFill>
                  <a:srgbClr val="A020F0"/>
                </a:solidFill>
                <a:latin typeface="Courier New" panose="02070309020205020404" pitchFamily="49" charset="0"/>
              </a:rPr>
              <a:t>wv</a:t>
            </a:r>
            <a:r>
              <a:rPr lang="fr-FR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img_noisy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imgden_wavelet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wdencmp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fr-FR" sz="1200" dirty="0" err="1">
                <a:solidFill>
                  <a:srgbClr val="A020F0"/>
                </a:solidFill>
                <a:latin typeface="Courier New" panose="02070309020205020404" pitchFamily="49" charset="0"/>
              </a:rPr>
              <a:t>gbl</a:t>
            </a:r>
            <a:r>
              <a:rPr lang="fr-FR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img_noisy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fr-FR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'sym4'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2,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thr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sorh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kp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% Affichage de l'image filtrée par ondelettes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figure;</a:t>
            </a:r>
          </a:p>
          <a:p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imgden_wavelet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[]);</a:t>
            </a:r>
          </a:p>
          <a:p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title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'Image filtrée par ondelettes'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% Calculer le PSNR entre l'image originale et l'image filtrée (TF)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mse_filtered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mean((im2double(a(:)) -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img_filtered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(:)).^2);</a:t>
            </a:r>
          </a:p>
          <a:p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psnr_filtered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10 * log10(1 /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mse_filtered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% PSNR pour l'image filtrée par TF</a:t>
            </a:r>
          </a:p>
          <a:p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% Calculer le PSNR entre l'image originale et l'image filtrée par ondelettes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mse_wavelet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mean((im2double(a(:)) -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imgden_wavelet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(:)).^2);</a:t>
            </a:r>
          </a:p>
          <a:p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psnr_wavelet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10 * log10(1 / 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mse_wavelet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% PSNR pour l'image filtrée par ondelettes</a:t>
            </a:r>
          </a:p>
          <a:p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fr-FR" sz="1200" dirty="0">
                <a:solidFill>
                  <a:srgbClr val="228B22"/>
                </a:solidFill>
                <a:latin typeface="Courier New" panose="02070309020205020404" pitchFamily="49" charset="0"/>
              </a:rPr>
              <a:t>% Afficher le PSNR</a:t>
            </a:r>
          </a:p>
          <a:p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disp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([</a:t>
            </a:r>
            <a:r>
              <a:rPr lang="fr-FR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'PSNR de l''image filtrée par TF : '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num2str(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psnr_filtered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fr-FR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'%.2f'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fr-FR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 dB'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]);</a:t>
            </a:r>
          </a:p>
          <a:p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disp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([</a:t>
            </a:r>
            <a:r>
              <a:rPr lang="fr-FR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'PSNR de l''image filtrée par ondelettes : '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num2str(</a:t>
            </a:r>
            <a:r>
              <a:rPr lang="fr-FR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psnr_wavelet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fr-FR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'%.2f'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fr-FR" sz="1200" dirty="0">
                <a:solidFill>
                  <a:srgbClr val="A020F0"/>
                </a:solidFill>
                <a:latin typeface="Courier New" panose="02070309020205020404" pitchFamily="49" charset="0"/>
              </a:rPr>
              <a:t>' dB'</a:t>
            </a:r>
            <a:r>
              <a:rPr lang="fr-FR" sz="1200" dirty="0">
                <a:solidFill>
                  <a:srgbClr val="000000"/>
                </a:solidFill>
                <a:latin typeface="Courier New" panose="02070309020205020404" pitchFamily="49" charset="0"/>
              </a:rPr>
              <a:t>]);</a:t>
            </a:r>
          </a:p>
          <a:p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75507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B172C2B-6015-FCB5-EC0A-229EF9C45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>
          <a:xfrm>
            <a:off x="8673263" y="4939408"/>
            <a:ext cx="2331076" cy="49635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4749486" y="4939408"/>
            <a:ext cx="2331076" cy="49635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A5D6D821-2E5B-3BAE-66C3-E2FF16666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4" y="249239"/>
            <a:ext cx="10591800" cy="646332"/>
          </a:xfrm>
        </p:spPr>
        <p:txBody>
          <a:bodyPr/>
          <a:lstStyle/>
          <a:p>
            <a:r>
              <a:rPr lang="fr-FR" dirty="0"/>
              <a:t>Résultats</a:t>
            </a:r>
            <a: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/>
            </a:r>
            <a:br>
              <a:rPr kumimoji="0" lang="fr-FR" altLang="x-none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endParaRPr lang="en-US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1" r="12900" b="10220"/>
          <a:stretch/>
        </p:blipFill>
        <p:spPr>
          <a:xfrm>
            <a:off x="521784" y="1122878"/>
            <a:ext cx="3408225" cy="365273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3" r="12544" b="10934"/>
          <a:stretch/>
        </p:blipFill>
        <p:spPr>
          <a:xfrm>
            <a:off x="8223440" y="1161649"/>
            <a:ext cx="3496478" cy="35751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/>
              <p:cNvSpPr txBox="1"/>
              <p:nvPr/>
            </p:nvSpPr>
            <p:spPr>
              <a:xfrm>
                <a:off x="4814723" y="5002921"/>
                <a:ext cx="22006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𝑃𝑆𝑁𝑅</m:t>
                      </m:r>
                      <m:r>
                        <a:rPr lang="fr-F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:21.61 </m:t>
                      </m:r>
                      <m:r>
                        <a:rPr lang="fr-F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𝑑𝐵</m:t>
                      </m:r>
                    </m:oMath>
                  </m:oMathPara>
                </a14:m>
                <a:endParaRPr lang="fr-FR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723" y="5002921"/>
                <a:ext cx="2200602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493" r="-2493" b="-11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/>
              <p:cNvSpPr txBox="1"/>
              <p:nvPr/>
            </p:nvSpPr>
            <p:spPr>
              <a:xfrm>
                <a:off x="8738500" y="5002921"/>
                <a:ext cx="22006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𝑃𝑆𝑁𝑅</m:t>
                      </m:r>
                      <m:r>
                        <a:rPr lang="fr-F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:26.94 </m:t>
                      </m:r>
                      <m:r>
                        <a:rPr lang="fr-F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𝑑𝐵</m:t>
                      </m:r>
                    </m:oMath>
                  </m:oMathPara>
                </a14:m>
                <a:endParaRPr lang="fr-FR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8500" y="5002921"/>
                <a:ext cx="2200602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2216" r="-2493" b="-11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 9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4" r="12403" b="10409"/>
          <a:stretch/>
        </p:blipFill>
        <p:spPr>
          <a:xfrm>
            <a:off x="4287681" y="1161649"/>
            <a:ext cx="3578087" cy="365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52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D9E38B3-4686-8247-9625-49018D29F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D958B192-2EA0-56CA-E598-1EEDCD296A57}"/>
              </a:ext>
            </a:extLst>
          </p:cNvPr>
          <p:cNvSpPr txBox="1">
            <a:spLocks/>
          </p:cNvSpPr>
          <p:nvPr/>
        </p:nvSpPr>
        <p:spPr>
          <a:xfrm>
            <a:off x="1083733" y="2932291"/>
            <a:ext cx="10199510" cy="32653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fr-FR" sz="2000" dirty="0">
                <a:solidFill>
                  <a:schemeClr val="tx1"/>
                </a:solidFill>
              </a:rPr>
              <a:t>• TF : Efficace pour le filtrage global, mais ne capture pas bien les détails locaux.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fr-FR" sz="2000" dirty="0">
                <a:solidFill>
                  <a:schemeClr val="tx1"/>
                </a:solidFill>
              </a:rPr>
              <a:t>• TO : Analyse plus fine et localisée, adaptée aux signaux non stationnaires.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fr-FR" sz="2000" dirty="0">
                <a:solidFill>
                  <a:schemeClr val="tx1"/>
                </a:solidFill>
              </a:rPr>
              <a:t>• Le choix dépend du contexte : TF pour les images régulières, TO pour les images complexes et bruitées.</a:t>
            </a:r>
          </a:p>
        </p:txBody>
      </p:sp>
    </p:spTree>
    <p:extLst>
      <p:ext uri="{BB962C8B-B14F-4D97-AF65-F5344CB8AC3E}">
        <p14:creationId xmlns:p14="http://schemas.microsoft.com/office/powerpoint/2010/main" val="4244761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15">
      <a:dk1>
        <a:sysClr val="windowText" lastClr="000000"/>
      </a:dk1>
      <a:lt1>
        <a:sysClr val="window" lastClr="FFFFFF"/>
      </a:lt1>
      <a:dk2>
        <a:srgbClr val="F36E36"/>
      </a:dk2>
      <a:lt2>
        <a:srgbClr val="E7E6E6"/>
      </a:lt2>
      <a:accent1>
        <a:srgbClr val="A31312"/>
      </a:accent1>
      <a:accent2>
        <a:srgbClr val="E7E6E6"/>
      </a:accent2>
      <a:accent3>
        <a:srgbClr val="FDB913"/>
      </a:accent3>
      <a:accent4>
        <a:srgbClr val="1E753B"/>
      </a:accent4>
      <a:accent5>
        <a:srgbClr val="067CA2"/>
      </a:accent5>
      <a:accent6>
        <a:srgbClr val="493456"/>
      </a:accent6>
      <a:hlink>
        <a:srgbClr val="067CA2"/>
      </a:hlink>
      <a:folHlink>
        <a:srgbClr val="886D93"/>
      </a:folHlink>
    </a:clrScheme>
    <a:fontScheme name="Custom 8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4967531_win32_mlw v2" id="{D6E82B91-6E0A-4ADE-ABDF-7A3107FF5DC0}" vid="{FDF63795-6842-4874-86B5-D3F4150A0B0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509185-7C76-414A-B58D-FA547B6D6E6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D97AF3-310A-4DBA-AAE4-E94EC92F74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8D17C5B-66E3-4784-8825-129A0E305F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902</Words>
  <Application>Microsoft Office PowerPoint</Application>
  <PresentationFormat>Grand écran</PresentationFormat>
  <Paragraphs>175</Paragraphs>
  <Slides>18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-apple-system</vt:lpstr>
      <vt:lpstr>Arial</vt:lpstr>
      <vt:lpstr>Cambria Math</vt:lpstr>
      <vt:lpstr>Courier New</vt:lpstr>
      <vt:lpstr>Segoe UI</vt:lpstr>
      <vt:lpstr>Office Theme</vt:lpstr>
      <vt:lpstr>FILTRE D’IMAGE</vt:lpstr>
      <vt:lpstr>PLAN</vt:lpstr>
      <vt:lpstr>INTRODUCTION</vt:lpstr>
      <vt:lpstr>Transformée de Fourier </vt:lpstr>
      <vt:lpstr>Principe </vt:lpstr>
      <vt:lpstr>Application au filtrage </vt:lpstr>
      <vt:lpstr>Avantanges et Inconvénients </vt:lpstr>
      <vt:lpstr>Transformation en ondelettes </vt:lpstr>
      <vt:lpstr>Principe </vt:lpstr>
      <vt:lpstr>Application au filtrage </vt:lpstr>
      <vt:lpstr>Avantanges et Inconvénients </vt:lpstr>
      <vt:lpstr>Fonction matlab</vt:lpstr>
      <vt:lpstr>Fonction ddencmp </vt:lpstr>
      <vt:lpstr>Fonction wdencmp </vt:lpstr>
      <vt:lpstr>Comparaison sur  Matlab</vt:lpstr>
      <vt:lpstr>Code Matlab</vt:lpstr>
      <vt:lpstr>Résultats </vt:lpstr>
      <vt:lpstr>Conclusion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2022-05-06T06:19:48Z</dcterms:created>
  <dcterms:modified xsi:type="dcterms:W3CDTF">2024-10-01T21:38:46Z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